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37463413" cy="210677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36">
          <p15:clr>
            <a:srgbClr val="A4A3A4"/>
          </p15:clr>
        </p15:guide>
        <p15:guide id="2" pos="118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BBC99-3DE6-319E-220C-8E6EEFC67610}" v="912" dt="2026-04-29T06:29:32.887"/>
    <p1510:client id="{B63C80D0-D076-C778-8680-3D01F3B986C6}" v="217" dt="2026-04-30T02:29:11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6636"/>
        <p:guide pos="1180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Poster Template 1">
  <p:cSld name="Research Poster Template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2" descr="Vertical Divider"/>
          <p:cNvCxnSpPr/>
          <p:nvPr/>
        </p:nvCxnSpPr>
        <p:spPr>
          <a:xfrm>
            <a:off x="9547426" y="4315110"/>
            <a:ext cx="0" cy="1419641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18" name="Google Shape;18;p2"/>
          <p:cNvCxnSpPr/>
          <p:nvPr/>
        </p:nvCxnSpPr>
        <p:spPr>
          <a:xfrm>
            <a:off x="9651762" y="5755052"/>
            <a:ext cx="780488" cy="585214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19" name="Google Shape;19;p2" descr="Vertical Divider"/>
          <p:cNvCxnSpPr/>
          <p:nvPr/>
        </p:nvCxnSpPr>
        <p:spPr>
          <a:xfrm>
            <a:off x="18731707" y="4315110"/>
            <a:ext cx="0" cy="1419641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20" name="Google Shape;20;p2" descr="Vertical Divider"/>
          <p:cNvCxnSpPr/>
          <p:nvPr/>
        </p:nvCxnSpPr>
        <p:spPr>
          <a:xfrm>
            <a:off x="27915989" y="4315110"/>
            <a:ext cx="0" cy="1419641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21" name="Google Shape;21;p2"/>
          <p:cNvSpPr txBox="1">
            <a:spLocks noGrp="1"/>
          </p:cNvSpPr>
          <p:nvPr>
            <p:ph type="body" idx="1"/>
          </p:nvPr>
        </p:nvSpPr>
        <p:spPr>
          <a:xfrm>
            <a:off x="780489" y="4390170"/>
            <a:ext cx="8363143" cy="837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2"/>
              <a:buFont typeface="Arial"/>
              <a:buNone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 descr="Photo alt tag goes here"/>
          <p:cNvSpPr>
            <a:spLocks noGrp="1"/>
          </p:cNvSpPr>
          <p:nvPr>
            <p:ph type="pic" idx="2"/>
          </p:nvPr>
        </p:nvSpPr>
        <p:spPr>
          <a:xfrm>
            <a:off x="780489" y="13383630"/>
            <a:ext cx="8363143" cy="502629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" name="Google Shape;23;p2" descr="Photo alt tag goes here"/>
          <p:cNvSpPr>
            <a:spLocks noGrp="1"/>
          </p:cNvSpPr>
          <p:nvPr>
            <p:ph type="pic" idx="3"/>
          </p:nvPr>
        </p:nvSpPr>
        <p:spPr>
          <a:xfrm>
            <a:off x="28333332" y="10143534"/>
            <a:ext cx="8363143" cy="4769496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4" name="Google Shape;24;p2"/>
          <p:cNvSpPr txBox="1">
            <a:spLocks noGrp="1"/>
          </p:cNvSpPr>
          <p:nvPr>
            <p:ph type="body" idx="4"/>
          </p:nvPr>
        </p:nvSpPr>
        <p:spPr>
          <a:xfrm>
            <a:off x="9964769" y="4390169"/>
            <a:ext cx="8363143" cy="1399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2"/>
              <a:buFont typeface="Arial"/>
              <a:buNone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body" idx="5"/>
          </p:nvPr>
        </p:nvSpPr>
        <p:spPr>
          <a:xfrm>
            <a:off x="19135504" y="4392385"/>
            <a:ext cx="8363143" cy="446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6"/>
          </p:nvPr>
        </p:nvSpPr>
        <p:spPr>
          <a:xfrm>
            <a:off x="28333332" y="4390171"/>
            <a:ext cx="8363143" cy="5241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body" idx="7"/>
          </p:nvPr>
        </p:nvSpPr>
        <p:spPr>
          <a:xfrm>
            <a:off x="28333332" y="15382240"/>
            <a:ext cx="8363143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2"/>
          <p:cNvSpPr>
            <a:spLocks noGrp="1"/>
          </p:cNvSpPr>
          <p:nvPr>
            <p:ph type="chart" idx="8"/>
          </p:nvPr>
        </p:nvSpPr>
        <p:spPr>
          <a:xfrm>
            <a:off x="19247965" y="9401850"/>
            <a:ext cx="8250681" cy="4442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792"/>
              <a:buFont typeface="Arial"/>
              <a:buNone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body" idx="9"/>
          </p:nvPr>
        </p:nvSpPr>
        <p:spPr>
          <a:xfrm>
            <a:off x="19247967" y="14437012"/>
            <a:ext cx="8204354" cy="399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392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92"/>
              <a:buFont typeface="Arial"/>
              <a:buChar char="•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515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50"/>
              <a:buFont typeface="NTR"/>
              <a:buChar char="-"/>
              <a:defRPr sz="179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1752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52"/>
              <a:buFont typeface="Arial"/>
              <a:buChar char="•"/>
              <a:defRPr sz="115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6">
          <p15:clr>
            <a:srgbClr val="FBAE40"/>
          </p15:clr>
        </p15:guide>
        <p15:guide id="2" pos="1180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 descr="alt=&quot;&quot;"/>
          <p:cNvSpPr/>
          <p:nvPr/>
        </p:nvSpPr>
        <p:spPr>
          <a:xfrm>
            <a:off x="-1" y="0"/>
            <a:ext cx="37463413" cy="3512576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 descr="alt=&quot;&quot;"/>
          <p:cNvSpPr/>
          <p:nvPr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531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" descr="UB Crest"/>
          <p:cNvPicPr preferRelativeResize="0"/>
          <p:nvPr/>
        </p:nvPicPr>
        <p:blipFill rotWithShape="1">
          <a:blip r:embed="rId4">
            <a:alphaModFix amt="41000"/>
          </a:blip>
          <a:srcRect t="4395" b="40121"/>
          <a:stretch/>
        </p:blipFill>
        <p:spPr>
          <a:xfrm>
            <a:off x="29492842" y="-12338"/>
            <a:ext cx="6234906" cy="3508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 descr="alt=&quot;&quot;"/>
          <p:cNvSpPr/>
          <p:nvPr/>
        </p:nvSpPr>
        <p:spPr>
          <a:xfrm>
            <a:off x="0" y="19082085"/>
            <a:ext cx="37463413" cy="198562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" descr="University at Buffalo, The State University of New Yor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4658" y="19690451"/>
            <a:ext cx="10725451" cy="7954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27913271" y="19527805"/>
            <a:ext cx="0" cy="1063256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doi.org/10.1109/5.726791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405154" y="814727"/>
            <a:ext cx="26383408" cy="240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8375" tIns="29175" rIns="58375" bIns="291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Detection of AI Generated Background noise using Deep Learning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</a:rPr>
              <a:t>CSE 676: Deep Learning</a:t>
            </a:r>
            <a:endParaRPr/>
          </a:p>
          <a:p>
            <a:pPr marL="0" marR="0" lvl="0" indent="0" algn="l" rtl="0">
              <a:spcBef>
                <a:spcPts val="3552"/>
              </a:spcBef>
              <a:spcAft>
                <a:spcPts val="0"/>
              </a:spcAft>
              <a:buNone/>
            </a:pPr>
            <a:r>
              <a:rPr lang="en-US" sz="2048">
                <a:solidFill>
                  <a:srgbClr val="FFFFFF"/>
                </a:solidFill>
              </a:rPr>
              <a:t>Jaden Peacock, Ritik Verma, Abhishek Rajagopalan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346511" y="3997287"/>
            <a:ext cx="8483894" cy="13309629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95833"/>
              </a:lnSpc>
            </a:pPr>
            <a:r>
              <a:rPr lang="en-US" sz="2700" b="1">
                <a:solidFill>
                  <a:srgbClr val="005BBB"/>
                </a:solidFill>
                <a:latin typeface="Times New Roman"/>
                <a:cs typeface="Times New Roman"/>
              </a:rPr>
              <a:t>Problem Statement</a:t>
            </a:r>
            <a:endParaRPr sz="220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algn="just">
              <a:spcBef>
                <a:spcPts val="768"/>
              </a:spcBef>
            </a:pP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We are developing a deep learning system to distinguish between </a:t>
            </a:r>
            <a:r>
              <a:rPr lang="en-US" sz="2400">
                <a:solidFill>
                  <a:srgbClr val="0D0C0C"/>
                </a:solidFill>
                <a:latin typeface="Times New Roman"/>
                <a:cs typeface="Times New Roman"/>
              </a:rPr>
              <a:t>authentic and AI-generated background audio. This system focuses on detecting</a:t>
            </a:r>
            <a:r>
              <a:rPr lang="en-US" sz="2200">
                <a:solidFill>
                  <a:srgbClr val="0D0C0C"/>
                </a:solidFill>
                <a:latin typeface="Times New Roman"/>
                <a:cs typeface="Times New Roman"/>
              </a:rPr>
              <a:t> the subtle artifacts and patterns found in deepfake background noise</a:t>
            </a:r>
            <a:endParaRPr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6363"/>
              </a:lnSpc>
              <a:spcBef>
                <a:spcPts val="768"/>
              </a:spcBef>
              <a:spcAft>
                <a:spcPts val="0"/>
              </a:spcAft>
              <a:buNone/>
            </a:pPr>
            <a:endParaRPr lang="en-US" sz="2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700" b="1">
                <a:solidFill>
                  <a:schemeClr val="dk2"/>
                </a:solidFill>
              </a:rPr>
              <a:t>Dataset</a:t>
            </a:r>
            <a:endParaRPr sz="2700">
              <a:solidFill>
                <a:schemeClr val="dk2"/>
              </a:solidFill>
            </a:endParaRPr>
          </a:p>
          <a:p>
            <a:pPr marL="457200" lvl="0" indent="-368300" algn="just" rtl="0">
              <a:spcBef>
                <a:spcPts val="768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400" b="1" dirty="0" err="1">
                <a:solidFill>
                  <a:srgbClr val="0D0C0C"/>
                </a:solidFill>
                <a:latin typeface="Times New Roman"/>
                <a:cs typeface="Times New Roman"/>
              </a:rPr>
              <a:t>EnvSDD</a:t>
            </a:r>
            <a:r>
              <a:rPr lang="en-US" sz="2400" b="1" dirty="0">
                <a:solidFill>
                  <a:srgbClr val="0D0C0C"/>
                </a:solidFill>
                <a:latin typeface="Times New Roman"/>
                <a:cs typeface="Times New Roman"/>
              </a:rPr>
              <a:t> - 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~360 hours of environmental audio with synthetic artifacts</a:t>
            </a:r>
            <a:endParaRPr sz="240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lvl="0" indent="-368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400" b="1">
                <a:solidFill>
                  <a:srgbClr val="0D0C0C"/>
                </a:solidFill>
                <a:latin typeface="Times New Roman"/>
                <a:cs typeface="Times New Roman"/>
              </a:rPr>
              <a:t>LENS-DF</a:t>
            </a:r>
            <a:r>
              <a:rPr lang="en-US" sz="2400">
                <a:solidFill>
                  <a:srgbClr val="0D0C0C"/>
                </a:solidFill>
                <a:latin typeface="Times New Roman"/>
                <a:cs typeface="Times New Roman"/>
              </a:rPr>
              <a:t> - long-form audio with complex background noise</a:t>
            </a:r>
            <a:endParaRPr sz="240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indent="-368300" algn="just">
              <a:buClr>
                <a:schemeClr val="dk1"/>
              </a:buClr>
              <a:buSzPts val="2200"/>
              <a:buChar char="•"/>
            </a:pPr>
            <a:r>
              <a:rPr lang="en-US" sz="2400" b="1" dirty="0" err="1">
                <a:solidFill>
                  <a:srgbClr val="0D0C0C"/>
                </a:solidFill>
                <a:latin typeface="Times New Roman"/>
                <a:cs typeface="Times New Roman"/>
              </a:rPr>
              <a:t>ASVspoof</a:t>
            </a:r>
            <a:r>
              <a:rPr lang="en-US" sz="2400" b="1" dirty="0">
                <a:solidFill>
                  <a:srgbClr val="0D0C0C"/>
                </a:solidFill>
                <a:latin typeface="Times New Roman"/>
                <a:cs typeface="Times New Roman"/>
              </a:rPr>
              <a:t>- 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Large real-world audio</a:t>
            </a:r>
          </a:p>
          <a:p>
            <a:pPr marL="88900" algn="just">
              <a:lnSpc>
                <a:spcPct val="136363"/>
              </a:lnSpc>
              <a:buClr>
                <a:schemeClr val="dk1"/>
              </a:buClr>
              <a:buSzPts val="2200"/>
            </a:pPr>
            <a:endParaRPr lang="en-US" sz="2200" dirty="0">
              <a:latin typeface="Times New Roman"/>
              <a:cs typeface="Times New Roman"/>
            </a:endParaRPr>
          </a:p>
          <a:p>
            <a:pPr marL="0" lvl="0" indent="0" algn="just" rtl="0">
              <a:lnSpc>
                <a:spcPct val="95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700" b="1">
                <a:solidFill>
                  <a:schemeClr val="dk2"/>
                </a:solidFill>
                <a:latin typeface="Times New Roman"/>
                <a:cs typeface="Times New Roman"/>
              </a:rPr>
              <a:t>Methodology</a:t>
            </a:r>
            <a:endParaRPr sz="2700">
              <a:solidFill>
                <a:schemeClr val="dk2"/>
              </a:solidFill>
              <a:latin typeface="Times New Roman"/>
              <a:cs typeface="Times New Roman"/>
            </a:endParaRPr>
          </a:p>
          <a:p>
            <a:pPr marL="342900" indent="-342900" algn="just">
              <a:spcBef>
                <a:spcPts val="768"/>
              </a:spcBef>
              <a:buChar char="•"/>
            </a:pPr>
            <a:r>
              <a:rPr lang="en-US" sz="2200" b="1" dirty="0">
                <a:solidFill>
                  <a:srgbClr val="0D0C0C"/>
                </a:solidFill>
                <a:latin typeface="Times New Roman"/>
                <a:cs typeface="Times New Roman"/>
              </a:rPr>
              <a:t>B</a:t>
            </a:r>
            <a:r>
              <a:rPr lang="en-US" sz="2400" b="1" dirty="0">
                <a:solidFill>
                  <a:srgbClr val="0D0C0C"/>
                </a:solidFill>
                <a:latin typeface="Times New Roman"/>
                <a:cs typeface="Times New Roman"/>
              </a:rPr>
              <a:t>alanced Partitioning:</a:t>
            </a:r>
            <a:r>
              <a:rPr lang="en-US" sz="2400" dirty="0">
                <a:solidFill>
                  <a:schemeClr val="accent6"/>
                </a:solidFill>
                <a:latin typeface="Times New Roman"/>
                <a:cs typeface="Times New Roman"/>
              </a:rPr>
              <a:t> 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We apply a stratified  split with </a:t>
            </a:r>
            <a:r>
              <a:rPr lang="en-US" sz="2400" dirty="0" err="1">
                <a:solidFill>
                  <a:srgbClr val="0D0C0C"/>
                </a:solidFill>
                <a:latin typeface="Times New Roman"/>
                <a:cs typeface="Times New Roman"/>
              </a:rPr>
              <a:t>anequal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 distribution of real and fake samples to ensure unbiased training.</a:t>
            </a:r>
            <a:endParaRPr lang="en-US" sz="2400" b="1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342900" indent="-342900" algn="just">
              <a:spcBef>
                <a:spcPts val="768"/>
              </a:spcBef>
              <a:buChar char="•"/>
            </a:pPr>
            <a:r>
              <a:rPr lang="en-US" sz="2400" b="1" dirty="0">
                <a:solidFill>
                  <a:srgbClr val="0D0C0C"/>
                </a:solidFill>
                <a:latin typeface="Times New Roman"/>
                <a:cs typeface="Times New Roman"/>
              </a:rPr>
              <a:t>Robust Augmentation:</a:t>
            </a:r>
            <a:r>
              <a:rPr lang="en-US" sz="2400" dirty="0">
                <a:solidFill>
                  <a:schemeClr val="accent6"/>
                </a:solidFill>
                <a:latin typeface="Times New Roman"/>
                <a:cs typeface="Times New Roman"/>
              </a:rPr>
              <a:t> 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Training data is diversified via </a:t>
            </a:r>
            <a:r>
              <a:rPr lang="en-US" sz="2400" b="1" dirty="0">
                <a:solidFill>
                  <a:srgbClr val="0D0C0C"/>
                </a:solidFill>
                <a:latin typeface="Times New Roman"/>
                <a:cs typeface="Times New Roman"/>
              </a:rPr>
              <a:t>time and </a:t>
            </a:r>
            <a:r>
              <a:rPr lang="en-US" sz="2400">
                <a:solidFill>
                  <a:srgbClr val="0D0C0C"/>
                </a:solidFill>
                <a:latin typeface="Times New Roman"/>
                <a:cs typeface="Times New Roman"/>
              </a:rPr>
              <a:t>pitch shifting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 to improve model generalization across different acoustic environments.</a:t>
            </a:r>
          </a:p>
          <a:p>
            <a:pPr marL="342900" indent="-342900" algn="just">
              <a:spcBef>
                <a:spcPts val="768"/>
              </a:spcBef>
              <a:buChar char="•"/>
            </a:pPr>
            <a:r>
              <a:rPr lang="en-US" sz="2400" b="1">
                <a:solidFill>
                  <a:srgbClr val="0D0C0C"/>
                </a:solidFill>
                <a:latin typeface="Times New Roman"/>
                <a:cs typeface="Times New Roman"/>
              </a:rPr>
              <a:t>Standardized Evaluation:</a:t>
            </a:r>
            <a:r>
              <a:rPr lang="en-US" sz="2400" dirty="0">
                <a:solidFill>
                  <a:schemeClr val="accent6"/>
                </a:solidFill>
                <a:latin typeface="Times New Roman"/>
                <a:cs typeface="Times New Roman"/>
              </a:rPr>
              <a:t> </a:t>
            </a:r>
            <a:r>
              <a:rPr lang="en-US" sz="2400">
                <a:solidFill>
                  <a:srgbClr val="0D0C0C"/>
                </a:solidFill>
                <a:latin typeface="Times New Roman"/>
                <a:cs typeface="Times New Roman"/>
              </a:rPr>
              <a:t>All architectures are trained within a unified framework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 </a:t>
            </a:r>
          </a:p>
        </p:txBody>
      </p:sp>
      <p:cxnSp>
        <p:nvCxnSpPr>
          <p:cNvPr id="39" name="Google Shape;39;p4" descr="Horizontal Divider"/>
          <p:cNvCxnSpPr/>
          <p:nvPr/>
        </p:nvCxnSpPr>
        <p:spPr>
          <a:xfrm>
            <a:off x="28718607" y="18440675"/>
            <a:ext cx="7983000" cy="0"/>
          </a:xfrm>
          <a:prstGeom prst="straightConnector1">
            <a:avLst/>
          </a:prstGeom>
          <a:noFill/>
          <a:ln w="1587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0" name="Google Shape;40;p4"/>
          <p:cNvSpPr txBox="1"/>
          <p:nvPr/>
        </p:nvSpPr>
        <p:spPr>
          <a:xfrm>
            <a:off x="28400125" y="8622650"/>
            <a:ext cx="7993500" cy="461700"/>
          </a:xfrm>
          <a:prstGeom prst="rect">
            <a:avLst/>
          </a:prstGeom>
          <a:solidFill>
            <a:schemeClr val="lt1">
              <a:alpha val="62745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4"/>
          <p:cNvSpPr/>
          <p:nvPr/>
        </p:nvSpPr>
        <p:spPr>
          <a:xfrm>
            <a:off x="28169226" y="19375806"/>
            <a:ext cx="6259500" cy="11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Computer Science and Engineering</a:t>
            </a:r>
            <a:endParaRPr sz="20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School of Engineering and Applied Science</a:t>
            </a:r>
            <a:endParaRPr sz="2000">
              <a:solidFill>
                <a:schemeClr val="lt1"/>
              </a:solidFill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buffalo.edu</a:t>
            </a:r>
            <a:endParaRPr/>
          </a:p>
          <a:p>
            <a:pPr marL="0" marR="0" lvl="0" indent="0" algn="l" rtl="0">
              <a:spcBef>
                <a:spcPts val="51"/>
              </a:spcBef>
              <a:spcAft>
                <a:spcPts val="0"/>
              </a:spcAft>
              <a:buNone/>
            </a:pPr>
            <a:endParaRPr sz="179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0095903" y="4044939"/>
            <a:ext cx="7892577" cy="8649897"/>
          </a:xfrm>
          <a:prstGeom prst="rect">
            <a:avLst/>
          </a:prstGeom>
          <a:solidFill>
            <a:schemeClr val="lt1">
              <a:alpha val="6275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58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05BBB"/>
                </a:solidFill>
                <a:latin typeface="Times New Roman"/>
                <a:cs typeface="Times New Roman"/>
              </a:rPr>
              <a:t>Models</a:t>
            </a:r>
            <a:endParaRPr sz="2700">
              <a:latin typeface="Times New Roman"/>
              <a:cs typeface="Times New Roman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768"/>
              </a:spcBef>
              <a:spcAft>
                <a:spcPts val="0"/>
              </a:spcAft>
              <a:buNone/>
            </a:pPr>
            <a:endParaRPr lang="en-US" sz="3000" b="1" dirty="0">
              <a:solidFill>
                <a:schemeClr val="dk1"/>
              </a:solidFill>
            </a:endParaRPr>
          </a:p>
          <a:p>
            <a:pPr marL="0" marR="0" lvl="0" indent="0" algn="l">
              <a:lnSpc>
                <a:spcPct val="140000"/>
              </a:lnSpc>
              <a:spcBef>
                <a:spcPts val="768"/>
              </a:spcBef>
              <a:spcAft>
                <a:spcPts val="0"/>
              </a:spcAft>
              <a:buNone/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  <a:p>
            <a:pPr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chemeClr val="dk1"/>
              </a:solidFill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19036255" y="3997579"/>
            <a:ext cx="8519687" cy="1528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just" rtl="0">
              <a:lnSpc>
                <a:spcPct val="140000"/>
              </a:lnSpc>
              <a:spcBef>
                <a:spcPts val="768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2"/>
                </a:solidFill>
                <a:latin typeface="Times New Roman"/>
                <a:cs typeface="Times New Roman"/>
              </a:rPr>
              <a:t>Results</a:t>
            </a:r>
          </a:p>
          <a:p>
            <a:pPr marL="457200" algn="just">
              <a:spcBef>
                <a:spcPts val="768"/>
              </a:spcBef>
            </a:pPr>
            <a:r>
              <a:rPr lang="en-US" sz="2400" b="1" dirty="0">
                <a:latin typeface="Times New Roman"/>
                <a:cs typeface="Times New Roman"/>
              </a:rPr>
              <a:t>CNN Baseline:</a:t>
            </a:r>
            <a:r>
              <a:rPr lang="en-US" sz="2400" dirty="0">
                <a:latin typeface="Times New Roman"/>
                <a:cs typeface="Times New Roman"/>
              </a:rPr>
              <a:t> Our initial model struggled with generalization, achieving high recall but near-random accuracy. Its shallow architecture couldn't differentiate between real environmental sounds and synthetic artifacts across different recording qualities</a:t>
            </a:r>
            <a:br>
              <a:rPr lang="en-US" sz="2400" dirty="0">
                <a:latin typeface="Times New Roman"/>
                <a:cs typeface="Times New Roman"/>
              </a:rPr>
            </a:br>
            <a:endParaRPr lang="en-US" sz="2400"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500" dirty="0"/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500" dirty="0"/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500" dirty="0"/>
          </a:p>
          <a:p>
            <a:pPr marL="457200">
              <a:lnSpc>
                <a:spcPct val="140000"/>
              </a:lnSpc>
              <a:spcBef>
                <a:spcPts val="768"/>
              </a:spcBef>
            </a:pPr>
            <a:endParaRPr lang="en-US" sz="3000" b="1">
              <a:solidFill>
                <a:srgbClr val="666666"/>
              </a:solidFill>
            </a:endParaRPr>
          </a:p>
          <a:p>
            <a:pPr marL="457200"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rgbClr val="666666"/>
              </a:solidFill>
            </a:endParaRPr>
          </a:p>
          <a:p>
            <a:pPr marL="457200">
              <a:lnSpc>
                <a:spcPct val="140000"/>
              </a:lnSpc>
              <a:spcBef>
                <a:spcPts val="768"/>
              </a:spcBef>
            </a:pPr>
            <a:endParaRPr lang="en-US" sz="3000" b="1" dirty="0">
              <a:solidFill>
                <a:srgbClr val="666666"/>
              </a:solidFill>
            </a:endParaRPr>
          </a:p>
          <a:p>
            <a:pPr marL="457200" algn="just">
              <a:spcBef>
                <a:spcPts val="768"/>
              </a:spcBef>
            </a:pPr>
            <a:r>
              <a:rPr lang="en-US" sz="2200" b="1" dirty="0" err="1">
                <a:solidFill>
                  <a:srgbClr val="666666"/>
                </a:solidFill>
                <a:latin typeface="Times New Roman"/>
                <a:cs typeface="Times New Roman"/>
              </a:rPr>
              <a:t>ResNet</a:t>
            </a:r>
            <a:r>
              <a:rPr lang="en-US" sz="2200" b="1" dirty="0">
                <a:solidFill>
                  <a:srgbClr val="666666"/>
                </a:solidFill>
                <a:latin typeface="Times New Roman"/>
                <a:cs typeface="Times New Roman"/>
              </a:rPr>
              <a:t> &amp; Data Fusion:</a:t>
            </a:r>
            <a:r>
              <a:rPr lang="en-US" sz="2200" dirty="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666666"/>
                </a:solidFill>
                <a:latin typeface="Times New Roman"/>
                <a:cs typeface="Times New Roman"/>
              </a:rPr>
              <a:t>We moved to </a:t>
            </a:r>
            <a:r>
              <a:rPr lang="en-US" sz="2400" dirty="0" err="1">
                <a:solidFill>
                  <a:srgbClr val="666666"/>
                </a:solidFill>
                <a:latin typeface="Times New Roman"/>
                <a:cs typeface="Times New Roman"/>
              </a:rPr>
              <a:t>ResNet</a:t>
            </a:r>
            <a:r>
              <a:rPr lang="en-US" sz="2400" dirty="0">
                <a:solidFill>
                  <a:srgbClr val="666666"/>
                </a:solidFill>
                <a:latin typeface="Times New Roman"/>
                <a:cs typeface="Times New Roman"/>
              </a:rPr>
              <a:t> to leverage deeper layers and merged datasets to bridge the domain gap. This significantly boosted performance on environmental audio but still faced limitations with high-fidelity studio recordings.</a:t>
            </a: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666666"/>
              </a:solidFill>
              <a:latin typeface="Times New Roman"/>
              <a:cs typeface="Times New Roman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28161898" y="4018128"/>
            <a:ext cx="8655074" cy="14494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algn="just">
              <a:spcBef>
                <a:spcPts val="768"/>
              </a:spcBef>
            </a:pPr>
            <a:r>
              <a:rPr lang="en-US" sz="2200" b="1" dirty="0">
                <a:solidFill>
                  <a:srgbClr val="0D0C0C"/>
                </a:solidFill>
                <a:latin typeface="Times New Roman"/>
                <a:cs typeface="Times New Roman"/>
              </a:rPr>
              <a:t>Wav2Vec 2.0:</a:t>
            </a:r>
            <a:r>
              <a:rPr lang="en-US" sz="2200" dirty="0">
                <a:solidFill>
                  <a:srgbClr val="0D0C0C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D0C0C"/>
                </a:solidFill>
                <a:latin typeface="Times New Roman"/>
                <a:cs typeface="Times New Roman"/>
              </a:rPr>
              <a:t>We finally transitioned to Wav2Vec2 to extract more sophisticated audio embeddings. This self-supervised approach captured the subtle synthetic signatures in clean studio speech that traditional spectral methods failed to detect.</a:t>
            </a:r>
            <a:endParaRPr lang="en-US"/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algn="just">
              <a:lnSpc>
                <a:spcPct val="140000"/>
              </a:lnSpc>
              <a:spcBef>
                <a:spcPts val="768"/>
              </a:spcBef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algn="just"/>
            <a:r>
              <a:rPr lang="en-US" sz="2700" b="1">
                <a:solidFill>
                  <a:schemeClr val="dk2"/>
                </a:solidFill>
                <a:latin typeface="Times New Roman"/>
                <a:cs typeface="Times New Roman"/>
              </a:rPr>
              <a:t>     Conclusion</a:t>
            </a:r>
            <a:endParaRPr lang="en-US" sz="2700" b="1" dirty="0">
              <a:solidFill>
                <a:schemeClr val="dk2"/>
              </a:solidFill>
              <a:latin typeface="Times New Roman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Transitioning from basic CNNs to </a:t>
            </a:r>
            <a:r>
              <a:rPr lang="en-US" sz="2400" dirty="0" err="1">
                <a:latin typeface="Times New Roman"/>
                <a:cs typeface="Times New Roman"/>
              </a:rPr>
              <a:t>ResNet</a:t>
            </a:r>
            <a:r>
              <a:rPr lang="en-US" sz="2400" dirty="0">
                <a:latin typeface="Times New Roman"/>
                <a:cs typeface="Times New Roman"/>
              </a:rPr>
              <a:t> and Wav2Vec2 proved that merging data with specialized waveform analysis is key to spotting deepfake artifacts. This multi-model approach successfully bridged the gap between noisy environmental sounds and clean studio audio, providing a more robust system for audio authentication</a:t>
            </a:r>
            <a:endParaRPr lang="en-US" sz="2200" dirty="0">
              <a:solidFill>
                <a:srgbClr val="005BBB"/>
              </a:solidFill>
              <a:latin typeface="Times New Roman"/>
              <a:cs typeface="Times New Roman"/>
            </a:endParaRPr>
          </a:p>
          <a:p>
            <a:pPr algn="just"/>
            <a:br>
              <a:rPr lang="en-US" sz="2400" b="1" dirty="0">
                <a:solidFill>
                  <a:schemeClr val="dk2"/>
                </a:solidFill>
                <a:latin typeface="Times New Roman"/>
                <a:cs typeface="Times New Roman"/>
              </a:rPr>
            </a:br>
            <a:r>
              <a:rPr lang="en-US" sz="2400" b="1" dirty="0">
                <a:solidFill>
                  <a:schemeClr val="dk2"/>
                </a:solidFill>
                <a:latin typeface="Times New Roman"/>
                <a:cs typeface="Times New Roman"/>
              </a:rPr>
              <a:t> </a:t>
            </a:r>
            <a:br>
              <a:rPr lang="en-US" sz="2400" b="1" dirty="0">
                <a:latin typeface="Times New Roman"/>
                <a:cs typeface="Times New Roman"/>
              </a:rPr>
            </a:br>
            <a:r>
              <a:rPr lang="en-US" sz="2700" b="1">
                <a:solidFill>
                  <a:schemeClr val="dk2"/>
                </a:solidFill>
                <a:latin typeface="Times New Roman"/>
                <a:cs typeface="Times New Roman"/>
              </a:rPr>
              <a:t>     References </a:t>
            </a:r>
            <a:endParaRPr lang="en-US" sz="2200">
              <a:solidFill>
                <a:schemeClr val="dk2"/>
              </a:solidFill>
              <a:latin typeface="Times New Roman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000" b="1" dirty="0">
                <a:solidFill>
                  <a:srgbClr val="0D0C0C"/>
                </a:solidFill>
                <a:latin typeface="Times New Roman"/>
                <a:cs typeface="Times New Roman"/>
              </a:rPr>
              <a:t>CNN (Baseline):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 LeCun, Y., </a:t>
            </a:r>
            <a:r>
              <a:rPr lang="en-US" sz="2000" dirty="0" err="1">
                <a:solidFill>
                  <a:srgbClr val="0D0C0C"/>
                </a:solidFill>
                <a:latin typeface="Times New Roman"/>
                <a:cs typeface="Times New Roman"/>
              </a:rPr>
              <a:t>Bottou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, L., Bengio, Y., &amp; Haffner, P. (1998). Gradient-based learning applied to document recognition. </a:t>
            </a:r>
            <a:r>
              <a:rPr lang="en-US" sz="2000" i="1" dirty="0">
                <a:solidFill>
                  <a:srgbClr val="0D0C0C"/>
                </a:solidFill>
                <a:latin typeface="Times New Roman"/>
                <a:cs typeface="Times New Roman"/>
              </a:rPr>
              <a:t>Proceedings of the IEEE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, </a:t>
            </a:r>
            <a:r>
              <a:rPr lang="en-US" sz="2000" i="1" dirty="0">
                <a:solidFill>
                  <a:srgbClr val="0D0C0C"/>
                </a:solidFill>
                <a:latin typeface="Times New Roman"/>
                <a:cs typeface="Times New Roman"/>
              </a:rPr>
              <a:t>86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(11), 2278–2324. 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https://doi.org/10.1109/5.726791</a:t>
            </a:r>
            <a:endParaRPr lang="en-US" sz="2000" b="1">
              <a:solidFill>
                <a:schemeClr val="dk2"/>
              </a:solidFill>
              <a:latin typeface="Times New Roman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000" b="1" dirty="0" err="1">
                <a:solidFill>
                  <a:srgbClr val="0D0C0C"/>
                </a:solidFill>
                <a:latin typeface="Times New Roman"/>
                <a:cs typeface="Times New Roman"/>
              </a:rPr>
              <a:t>ResNet</a:t>
            </a:r>
            <a:r>
              <a:rPr lang="en-US" sz="2000" b="1" dirty="0">
                <a:solidFill>
                  <a:srgbClr val="0D0C0C"/>
                </a:solidFill>
                <a:latin typeface="Times New Roman"/>
                <a:cs typeface="Times New Roman"/>
              </a:rPr>
              <a:t>: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 He, K., Zhang, X., Ren, S., &amp; Sun, J. (2016). Deep residual learning for image recognition. </a:t>
            </a:r>
            <a:r>
              <a:rPr lang="en-US" sz="2000" i="1" dirty="0">
                <a:solidFill>
                  <a:srgbClr val="0D0C0C"/>
                </a:solidFill>
                <a:latin typeface="Times New Roman"/>
                <a:cs typeface="Times New Roman"/>
              </a:rPr>
              <a:t>IEEE Conference on Computer Vision and Pattern Recognition (CVPR)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.</a:t>
            </a:r>
          </a:p>
          <a:p>
            <a:pPr marL="457200" indent="-457200" algn="just">
              <a:buChar char="•"/>
            </a:pPr>
            <a:r>
              <a:rPr lang="en-US" sz="2000" b="1" dirty="0">
                <a:solidFill>
                  <a:srgbClr val="0D0C0C"/>
                </a:solidFill>
                <a:latin typeface="Times New Roman"/>
                <a:cs typeface="Times New Roman"/>
              </a:rPr>
              <a:t>Wav2Vec 2.0: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err="1">
                <a:solidFill>
                  <a:srgbClr val="0D0C0C"/>
                </a:solidFill>
                <a:latin typeface="Times New Roman"/>
                <a:cs typeface="Times New Roman"/>
              </a:rPr>
              <a:t>Baevski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, A., Zhou, H., Mohamed, A., &amp; Auli, M. (2020). Wav2Vec 2.0: A framework for self-supervised learning of speech representations. </a:t>
            </a:r>
            <a:r>
              <a:rPr lang="en-US" sz="2000" i="1" dirty="0">
                <a:solidFill>
                  <a:srgbClr val="0D0C0C"/>
                </a:solidFill>
                <a:latin typeface="Times New Roman"/>
                <a:cs typeface="Times New Roman"/>
              </a:rPr>
              <a:t>Advances in Neural Information Processing Systems (</a:t>
            </a:r>
            <a:r>
              <a:rPr lang="en-US" sz="2000" i="1" dirty="0" err="1">
                <a:solidFill>
                  <a:srgbClr val="0D0C0C"/>
                </a:solidFill>
                <a:latin typeface="Times New Roman"/>
                <a:cs typeface="Times New Roman"/>
              </a:rPr>
              <a:t>NeurIPS</a:t>
            </a:r>
            <a:r>
              <a:rPr lang="en-US" sz="2000" i="1" dirty="0">
                <a:solidFill>
                  <a:srgbClr val="0D0C0C"/>
                </a:solidFill>
                <a:latin typeface="Times New Roman"/>
                <a:cs typeface="Times New Roman"/>
              </a:rPr>
              <a:t>)</a:t>
            </a:r>
            <a:r>
              <a:rPr lang="en-US" sz="2000" dirty="0">
                <a:solidFill>
                  <a:srgbClr val="0D0C0C"/>
                </a:solidFill>
                <a:latin typeface="Times New Roman"/>
                <a:cs typeface="Times New Roman"/>
              </a:rPr>
              <a:t>.</a:t>
            </a:r>
          </a:p>
          <a:p>
            <a:pPr marL="457200" indent="-457200" algn="just">
              <a:buChar char="•"/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  <a:p>
            <a:pPr marL="457200" indent="-457200" algn="just">
              <a:buChar char="•"/>
            </a:pPr>
            <a:endParaRPr lang="en-US" sz="2200" dirty="0">
              <a:solidFill>
                <a:srgbClr val="0D0C0C"/>
              </a:solidFill>
              <a:latin typeface="Times New Roman"/>
              <a:cs typeface="Times New Roman"/>
            </a:endParaRPr>
          </a:p>
        </p:txBody>
      </p:sp>
      <p:pic>
        <p:nvPicPr>
          <p:cNvPr id="50" name="Google Shape;50;p4" title="voice-deepfake-1024x68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511" y="6122574"/>
            <a:ext cx="8467200" cy="499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72F2A51-9B2D-4D1E-8B1F-0D9700311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7070" y="4437173"/>
            <a:ext cx="8714571" cy="7794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68CE33-12A7-F888-60B1-200B9D8CB10D}"/>
              </a:ext>
            </a:extLst>
          </p:cNvPr>
          <p:cNvSpPr txBox="1"/>
          <p:nvPr/>
        </p:nvSpPr>
        <p:spPr>
          <a:xfrm>
            <a:off x="9699496" y="12265666"/>
            <a:ext cx="8674734" cy="67249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rtl="0"/>
            <a:r>
              <a:rPr lang="en-US" sz="2700" b="1">
                <a:solidFill>
                  <a:srgbClr val="005BBB"/>
                </a:solidFill>
                <a:latin typeface="Times New Roman"/>
                <a:ea typeface="Segoe UI"/>
                <a:cs typeface="Times New Roman"/>
              </a:rPr>
              <a:t>Analysis</a:t>
            </a:r>
            <a:endParaRPr lang="en-US" sz="2700" b="1" i="0">
              <a:solidFill>
                <a:srgbClr val="005BBB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400" b="1" dirty="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Fixing Generalization Gaps:</a:t>
            </a:r>
            <a:r>
              <a:rPr lang="en-US" sz="2400" dirty="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 Initial models failed on studio-grade audio after training on environmental noise. We merged datasets to force the system to recognize synthetic patterns across different </a:t>
            </a:r>
            <a:r>
              <a:rPr lang="en-US" sz="240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recording qualities</a:t>
            </a:r>
            <a:endParaRPr lang="en-US" sz="2400" dirty="0">
              <a:solidFill>
                <a:srgbClr val="0D0C0C"/>
              </a:solidFill>
              <a:latin typeface="Times New Roman"/>
              <a:ea typeface="Segoe UI"/>
              <a:cs typeface="Times New Roman"/>
            </a:endParaRPr>
          </a:p>
          <a:p>
            <a:pPr algn="just"/>
            <a:r>
              <a:rPr lang="en-US" sz="240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.</a:t>
            </a:r>
            <a:endParaRPr lang="en-US" sz="2400" dirty="0">
              <a:solidFill>
                <a:srgbClr val="0D0C0C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400" b="1" dirty="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Deeper Feature Learning:</a:t>
            </a:r>
            <a:r>
              <a:rPr lang="en-US" sz="2400" dirty="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 Switching to </a:t>
            </a:r>
            <a:r>
              <a:rPr lang="en-US" sz="2400" b="1" dirty="0" err="1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ResNet</a:t>
            </a:r>
            <a:r>
              <a:rPr lang="en-US" sz="2400" dirty="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 on the combined data allowed the model to use its depth to catch complex artifacts. This reduced false negatives and improved detection of subtle acoustic nuances</a:t>
            </a:r>
          </a:p>
          <a:p>
            <a:pPr algn="just"/>
            <a:br>
              <a:rPr lang="en-US" sz="2400" dirty="0">
                <a:latin typeface="Times New Roman"/>
                <a:ea typeface="Segoe UI"/>
                <a:cs typeface="Times New Roman"/>
              </a:rPr>
            </a:br>
            <a:endParaRPr lang="en-US" sz="2400" dirty="0">
              <a:solidFill>
                <a:srgbClr val="0D0C0C"/>
              </a:solidFill>
              <a:latin typeface="Times New Roman"/>
              <a:ea typeface="Segoe UI"/>
              <a:cs typeface="Times New Roman"/>
            </a:endParaRPr>
          </a:p>
          <a:p>
            <a:pPr marL="457200" indent="-457200" algn="just">
              <a:buChar char="•"/>
            </a:pPr>
            <a:r>
              <a:rPr lang="en-US" sz="2400" b="1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Advanced Waveform Analysis:</a:t>
            </a:r>
            <a:r>
              <a:rPr lang="en-US" sz="240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 We integrated </a:t>
            </a:r>
            <a:r>
              <a:rPr lang="en-US" sz="2400" b="1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Wav2Vec2</a:t>
            </a:r>
            <a:r>
              <a:rPr lang="en-US" sz="2400">
                <a:solidFill>
                  <a:srgbClr val="0D0C0C"/>
                </a:solidFill>
                <a:latin typeface="Times New Roman"/>
                <a:ea typeface="Segoe UI"/>
                <a:cs typeface="Times New Roman"/>
              </a:rPr>
              <a:t> to handle uncertain predictions in high-fidelity audio. Its specialized embeddings successfully spotted deepfake signatures that traditional spectral methods missed.</a:t>
            </a:r>
            <a:endParaRPr lang="en-US" sz="2400" b="0" i="0" dirty="0">
              <a:solidFill>
                <a:srgbClr val="0D0C0C"/>
              </a:solidFill>
              <a:latin typeface="Times New Roman"/>
              <a:ea typeface="Segoe UI"/>
              <a:cs typeface="Times New Roman"/>
            </a:endParaRPr>
          </a:p>
          <a:p>
            <a:pPr algn="l" rtl="0"/>
            <a:r>
              <a:rPr lang="en-US" sz="3000" b="0" i="0">
                <a:solidFill>
                  <a:srgbClr val="666666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6" name="Picture 5" descr="bar_chart.png">
            <a:extLst>
              <a:ext uri="{FF2B5EF4-FFF2-40B4-BE49-F238E27FC236}">
                <a16:creationId xmlns:a16="http://schemas.microsoft.com/office/drawing/2014/main" id="{0D477B16-7F5F-8A94-A8B6-2D323CD76B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2203" b="1823"/>
          <a:stretch>
            <a:fillRect/>
          </a:stretch>
        </p:blipFill>
        <p:spPr>
          <a:xfrm>
            <a:off x="22998187" y="7138108"/>
            <a:ext cx="4568543" cy="3513822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17E6BE-6549-D148-3388-5753ABD9A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47039" y="7419746"/>
            <a:ext cx="3750737" cy="311324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CEE9FD-71C5-E6C2-D62D-FEDEC2EC7D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03624" y="6535160"/>
            <a:ext cx="3173783" cy="3085847"/>
          </a:xfrm>
          <a:prstGeom prst="rect">
            <a:avLst/>
          </a:prstGeom>
        </p:spPr>
      </p:pic>
      <p:pic>
        <p:nvPicPr>
          <p:cNvPr id="8" name="Picture 7" descr="A comparison of a test set&#10;&#10;AI-generated content may be incorrect.">
            <a:extLst>
              <a:ext uri="{FF2B5EF4-FFF2-40B4-BE49-F238E27FC236}">
                <a16:creationId xmlns:a16="http://schemas.microsoft.com/office/drawing/2014/main" id="{5BF43AB1-5E94-4C31-D92E-0004D96DD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62093" y="6535395"/>
            <a:ext cx="5107525" cy="3086815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3E0CD1-086D-DD45-94CE-F7E2425521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97473" y="13051542"/>
            <a:ext cx="7574688" cy="2303355"/>
          </a:xfrm>
          <a:prstGeom prst="rect">
            <a:avLst/>
          </a:prstGeom>
        </p:spPr>
      </p:pic>
      <p:pic>
        <p:nvPicPr>
          <p:cNvPr id="10" name="Picture 9" descr="A comparison of a comparison of a fake and real&#10;&#10;AI-generated content may be incorrect.">
            <a:extLst>
              <a:ext uri="{FF2B5EF4-FFF2-40B4-BE49-F238E27FC236}">
                <a16:creationId xmlns:a16="http://schemas.microsoft.com/office/drawing/2014/main" id="{52B6C467-18D2-9914-34F6-C0D54B9B9E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59934" y="15621389"/>
            <a:ext cx="7642070" cy="3152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Research Poster Template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308</cp:revision>
  <dcterms:modified xsi:type="dcterms:W3CDTF">2026-04-30T02:30:24Z</dcterms:modified>
</cp:coreProperties>
</file>